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81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HAR70+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 for Older Adults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CS-245 Machine Learning  ·  NUST SEECS  ·  Spring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93776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and sedentary behavior cause 30% of hospital admissions in adults 70+. Existing HAR datasets target young adults — none address the unique gait patterns, walking aids, and biomechanical variability of older adults aged 70–95.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090672"/>
            <a:ext cx="498348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 activities &lt; 0.2% of 2.26M samples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21024"/>
            <a:ext cx="498348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666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Data Leakage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signatures must not cross train/test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151376"/>
            <a:ext cx="498348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197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3891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feature-level explanations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320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713232"/>
            <a:ext cx="3017520" cy="566928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06440" y="713232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786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768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 HAR on HAR70+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subjects, ages 70–95)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1408176"/>
            <a:ext cx="3017520" cy="566928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06440" y="1408176"/>
            <a:ext cx="64008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1481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1463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134-feature sliding-window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from dual sensors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06440" y="2103120"/>
            <a:ext cx="3017520" cy="566928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06440" y="2103120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97880" y="21762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21579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Subject-aware GroupShuffleSplit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 data leakage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2798064"/>
            <a:ext cx="3017520" cy="566928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06440" y="2798064"/>
            <a:ext cx="64008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97880" y="2871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9632" y="2852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training set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 class imbalance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06440" y="3493008"/>
            <a:ext cx="3017520" cy="566928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06440" y="3493008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97880" y="3566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9632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RF · XGBoost · SVM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KMeans · DBSCAN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06440" y="4187952"/>
            <a:ext cx="3017520" cy="566928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806440" y="4187952"/>
            <a:ext cx="64008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0" y="42611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9632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clinical transparency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800600"/>
            <a:ext cx="4983480" cy="256032"/>
          </a:xfrm>
          <a:prstGeom prst="rect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8188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HAR70+  ·  2,259,597 samples  ·  50 Hz  ·  2 Axivity AX3 accelerometers  ·  CC BY 4.0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HAR70+ ML Pipeline  ·  v3.0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49807"/>
            <a:ext cx="1417320" cy="95307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0881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subjects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501–518.csv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2.26M rows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37360" y="1078992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38528" y="749807"/>
            <a:ext cx="1417318" cy="953081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38528" y="777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8" y="10881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plots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corr.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55848" y="1078992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57016" y="749807"/>
            <a:ext cx="1417314" cy="95308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52443" y="84054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57016" y="128455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samples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overlap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45,157 windows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74336" y="1078992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80077" y="771613"/>
            <a:ext cx="1499615" cy="962223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75504" y="86164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75504" y="126485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GroupShuffle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92824" y="1078992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93992" y="756841"/>
            <a:ext cx="1417320" cy="962229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93992" y="777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11521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only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stairs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0.2% to equal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28700" y="2468880"/>
            <a:ext cx="6473952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2048254"/>
            <a:ext cx="1417320" cy="107899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222093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26517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=balanced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37360" y="2798064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938528" y="2048254"/>
            <a:ext cx="1417320" cy="107899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38528" y="222867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947672" y="269484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trees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L1+L2 reg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55848" y="2798064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66160" y="2066544"/>
            <a:ext cx="1417320" cy="10607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57016" y="221495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57016" y="26883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50D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var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74336" y="2798064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75504" y="2066544"/>
            <a:ext cx="1417320" cy="10607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75504" y="222867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+DBSCAN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9876" y="26883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 top-10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92824" y="2798064"/>
            <a:ext cx="201168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93992" y="2048254"/>
            <a:ext cx="1417320" cy="107899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93992" y="221495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84848" y="268130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310128"/>
            <a:ext cx="8503920" cy="54864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3346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FEATURES / WINDOW: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68880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46888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std · RMS · IQR · skewness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· energy · ZCR · MAD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0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7200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PSD mean/max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dom. freq · spectral entropy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75120" y="3355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67512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back/thigh magnitudes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correlations · mag_corr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75320" y="3493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134 total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4005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28 Visualization Plots  ·  best_model.pkl  ·  scaler.pkl  ·  Streamlit App Demo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0040" y="4370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97280" y="4407408"/>
            <a:ext cx="164592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298448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31136" y="4407408"/>
            <a:ext cx="164592" cy="12801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432304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64992" y="4407408"/>
            <a:ext cx="164592" cy="12801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66160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98848" y="4407408"/>
            <a:ext cx="164592" cy="128016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00016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632704" y="4407408"/>
            <a:ext cx="164592" cy="1280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833872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766560" y="4407408"/>
            <a:ext cx="164592" cy="12801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967728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900416" y="4407408"/>
            <a:ext cx="164592" cy="1280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101584" y="4389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0" y="164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· Comparative · Qualitative Inference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(Best)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0240" y="978408"/>
            <a:ext cx="2480950" cy="14630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46910" y="969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14300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96.67%  ·  AUC 99.85%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1298448"/>
            <a:ext cx="2560320" cy="182880"/>
          </a:xfrm>
          <a:prstGeom prst="rect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32588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GroupKFold CV: 96.45% +/- 0.13%  (zero subject leakage)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1618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20240" y="1636776"/>
            <a:ext cx="2463028" cy="14630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28988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80136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95.82%  ·  AUC 99.79%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2768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2295144"/>
            <a:ext cx="2416942" cy="14630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2902" y="22860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45973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95.39%  ·  AUC 99.79%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4206240" cy="0"/>
          </a:xfrm>
          <a:prstGeom prst="line">
            <a:avLst/>
          </a:pr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0175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vs. LITERATURE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4206240" cy="274320"/>
          </a:xfrm>
          <a:prstGeom prst="rect">
            <a:avLst/>
          </a:prstGeom>
          <a:solidFill>
            <a:srgbClr val="1A0D0D"/>
          </a:solidFill>
          <a:ln w="12700">
            <a:solidFill>
              <a:srgbClr val="1A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291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Logacjov 2023 [1]  CNN-LSTM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3291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2918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93592"/>
            <a:ext cx="4206240" cy="274320"/>
          </a:xfrm>
          <a:prstGeom prst="rect">
            <a:avLst/>
          </a:prstGeom>
          <a:solidFill>
            <a:srgbClr val="0D3320"/>
          </a:solidFill>
          <a:ln w="12700">
            <a:solidFill>
              <a:srgbClr val="0D3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6393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 XGBoost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54680" y="3639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36393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041648"/>
            <a:ext cx="4206240" cy="0"/>
          </a:xfrm>
          <a:prstGeom prst="line">
            <a:avLst/>
          </a:pr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0873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3159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(K=7, top-10 feat.)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0" y="43159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Sil=0.16  ARI=0.47  NMI=0.66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645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(eps=1.2, top-10)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0" y="4645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Sil=0.43  ARI=0.56  23 clusters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65836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SHAP INFERENCE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960120"/>
            <a:ext cx="4069080" cy="493776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960120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56048" y="9966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56048" y="11978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back_x_mean = 1.0g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10881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horizontal — flat on back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1527048"/>
            <a:ext cx="4069080" cy="493776"/>
          </a:xfrm>
          <a:prstGeom prst="rect">
            <a:avLst/>
          </a:prstGeom>
          <a:solidFill>
            <a:srgbClr val="0D2020"/>
          </a:solidFill>
          <a:ln w="12700">
            <a:solidFill>
              <a:srgbClr val="0D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46320" y="1527048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56048" y="15636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56048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thigh_x_mean = 0.85g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49440" y="1655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Thigh horizontal — seated posture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2093976"/>
            <a:ext cx="4069080" cy="493776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46320" y="2093976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56048" y="21305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56048" y="2331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back_z_mean = 1.0g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49440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Upright + near-zero std on all axes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2660904"/>
            <a:ext cx="4069080" cy="493776"/>
          </a:xfrm>
          <a:prstGeom prst="rect">
            <a:avLst/>
          </a:prstGeom>
          <a:solidFill>
            <a:srgbClr val="0D2010"/>
          </a:solidFill>
          <a:ln w="12700">
            <a:solidFill>
              <a:srgbClr val="0D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46320" y="2660904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56048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956048" y="2898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dom_freq = 1.8 Hz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9440" y="2788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gait cycle + high RMS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0" y="3227832"/>
            <a:ext cx="4069080" cy="493776"/>
          </a:xfrm>
          <a:prstGeom prst="rect">
            <a:avLst/>
          </a:prstGeom>
          <a:solidFill>
            <a:srgbClr val="1F1A00"/>
          </a:solidFill>
          <a:ln w="12700">
            <a:solidFill>
              <a:srgbClr val="1F1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46320" y="3227832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56048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 Up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956048" y="34655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thigh_mag_mean high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49440" y="33558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thigh flexion + back energy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46320" y="3794760"/>
            <a:ext cx="4069080" cy="493776"/>
          </a:xfrm>
          <a:prstGeom prst="rect">
            <a:avLst/>
          </a:prstGeom>
          <a:solidFill>
            <a:srgbClr val="1F100D"/>
          </a:solidFill>
          <a:ln w="12700">
            <a:solidFill>
              <a:srgbClr val="1F10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846320" y="3794760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56048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956048" y="40325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dom_freq = 1.0 Hz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949440" y="39227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cadence, lower amplitude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46320" y="4361688"/>
            <a:ext cx="4069080" cy="493776"/>
          </a:xfrm>
          <a:prstGeom prst="rect">
            <a:avLst/>
          </a:prstGeom>
          <a:solidFill>
            <a:srgbClr val="1A0D2A"/>
          </a:solidFill>
          <a:ln w="12700">
            <a:solidFill>
              <a:srgbClr val="1A0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846320" y="4361688"/>
            <a:ext cx="54864" cy="4937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956048" y="4398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956048" y="4599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mag_corr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949440" y="4489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dynamic from static activities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App: Live prediction · Batch CSV inference · All 28 plots · SHAP waterfall · Model artifacts saved (best_model.pkl + scaler.pkl)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602</Words>
  <Application>Microsoft Office PowerPoint</Application>
  <PresentationFormat>On-screen Show (16:9)</PresentationFormat>
  <Paragraphs>162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HAR70+ Activity Recognition</dc:title>
  <dc:subject>PptxGenJS Presentation</dc:subject>
  <dc:creator>Muhammad Hassan</dc:creator>
  <cp:lastModifiedBy>UKASHA SHAFIQUE</cp:lastModifiedBy>
  <cp:revision>4</cp:revision>
  <dcterms:created xsi:type="dcterms:W3CDTF">2026-05-02T05:28:37Z</dcterms:created>
  <dcterms:modified xsi:type="dcterms:W3CDTF">2026-05-03T05:34:31Z</dcterms:modified>
</cp:coreProperties>
</file>